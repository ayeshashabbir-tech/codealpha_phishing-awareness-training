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02B"/>
                </a:solidFill>
                <a:latin typeface="Calibri"/>
              </a:rPr>
              <a:t>Reported impact, US$ millions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 loss</c:v>
                </c:pt>
              </c:strCache>
            </c:strRef>
          </c:tx>
          <c:spPr>
            <a:solidFill>
              <a:srgbClr val="2345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Google &amp; Facebook</c:v>
                  </c:pt>
                  <c:pt idx="1">
                    <c:v>MGM Resorts</c:v>
                  </c:pt>
                  <c:pt idx="2">
                    <c:v>Ubiquiti</c:v>
                  </c:pt>
                  <c:pt idx="3">
                    <c:v>Toyota Boshoku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46.7</c:v>
                </c:pt>
                <c:pt idx="3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0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 the room: who received something suspicious this month? Set the tone early — reporting a mistake is a good day's work, not a failure. This deck pairs with the interactive online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arc visible. People retain the habits in section 6 far better once they have been fooled once in sections 2 and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nobody is calling the audience the weak link. They are the control that notices what automation cannot.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of the four they personally hold the keys to. Finance staff answer money; everyone answers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 deserves the highlight: it defeats every technical control because there is nothing malicious in the message to detect.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email on the next slide before revealing the annotations. Give the room 60 seconds to call out what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reveal anything yet. Let the room work through the seven questions on the right, then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Clue 7 is the one to hammer home: even a perfect-looking message asking for a password is a phish by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live if you can: type a padded subdomain into a browser and show how convincing the left of the address looks.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your organisation has not rolled out a password manager, this slide is the business case: it converts a judgement call into an automatic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quoted lines aloud. Hearing them stated plainly, out of context, makes them sound as manipulative as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Quishing is the one most rooms have not met. Mention QR codes stuck over legitimate ones on parking meters and restaurant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slide to remember if they forget everything else. Consider printing it as a desk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Tone matters here — these are not stories about stupid people. They are stories about ordinary processes under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as publicly reported; much of the Google/Facebook money was later recovered and the perpetrator convicted.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publicly reported estimates and are included for scale, not precision. Toyota Boshoku (2019) is added as a fourth BEC data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habits and ask each person to commit to them out loud. Commitment beats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finance staff take one slide away, this is it. BEC is stopped by process, not by spotting a clever fake.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Managers: say explicitly that nobody is disciplined for reporting. The reporting rate matters more than the click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people vote by show of hands before advancing. The wrong answers are popular ones — draw them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everyone understands what the prompts mean: the password is already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Finance staff usually get this right; everyone else often picks B. Explain why B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placeholder reporting details before delivering. Close by naming the exact button or address people should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57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the message before you act on it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|  Nine sections  |  Live quiz throughout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rot="-840000">
            <a:off x="8915400" y="1874520"/>
            <a:ext cx="2331720" cy="2331720"/>
          </a:xfrm>
          <a:prstGeom prst="ellipse">
            <a:avLst/>
          </a:prstGeom>
          <a:solidFill>
            <a:srgbClr val="16202B"/>
          </a:solidFill>
          <a:ln w="38100">
            <a:solidFill>
              <a:srgbClr val="B324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840000">
            <a:off x="9125712" y="2084832"/>
            <a:ext cx="1911096" cy="1911096"/>
          </a:xfrm>
          <a:prstGeom prst="ellipse">
            <a:avLst/>
          </a:prstGeom>
          <a:solidFill>
            <a:srgbClr val="16202B"/>
          </a:solidFill>
          <a:ln w="12700">
            <a:solidFill>
              <a:srgbClr val="B32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 rot="-840000">
            <a:off x="8915400" y="26060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</a:t>
            </a:r>
            <a:endParaRPr lang="en-US" sz="17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 rot="-840000">
            <a:off x="8915400" y="3456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ends with a question for the room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6367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phishing still works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19476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targets people, not systems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384048" cy="384048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52728" y="27157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026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things that gave it away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49624"/>
            <a:ext cx="384048" cy="384048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7947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websites and links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41056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an address properly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928616"/>
            <a:ext cx="384048" cy="384048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52728" y="48737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social engineering playbook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5184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levers attackers pull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1691640"/>
            <a:ext cx="384048" cy="384048"/>
          </a:xfrm>
          <a:prstGeom prst="ellipse">
            <a:avLst/>
          </a:prstGeom>
          <a:solidFill>
            <a:srgbClr val="3C659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13448" y="16367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that actually happened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19476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cost, and why they worked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2770632"/>
            <a:ext cx="384048" cy="384048"/>
          </a:xfrm>
          <a:prstGeom prst="ellipse">
            <a:avLst/>
          </a:prstGeom>
          <a:solidFill>
            <a:srgbClr val="3C659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13448" y="27157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Habits that stop it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13448" y="30266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behaviours that survive a busy day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3849624"/>
            <a:ext cx="384048" cy="384048"/>
          </a:xfrm>
          <a:prstGeom prst="ellipse">
            <a:avLst/>
          </a:prstGeom>
          <a:solidFill>
            <a:srgbClr val="3C659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4652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013448" y="37947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clicked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13448" y="41056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thirty minutes matter most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last checkpoint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catch the obvious attempts. What reaches your inbox already got through.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breaches still begin with a message rather than a technical exploit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1772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9260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how long attackers need between a stolen password and an active session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01000" y="1828800"/>
            <a:ext cx="32918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7532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9260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code, or approval is the whole attack — the rest is just persuasion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57200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 reduce the volume. Judgement is what handles the remainder — and attackers design specifically for the moment you are busy, tired, or eager to be helpful.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an attacker is after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phishing message maps to at least one of these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57400"/>
            <a:ext cx="402336" cy="402336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20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Username, password, and the six-digit code that is supposed to protect them.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2057400"/>
            <a:ext cx="402336" cy="402336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052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0208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468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redirected, a wire approved, gift-card codes photographed and sent.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79476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8408" y="4069080"/>
            <a:ext cx="402336" cy="402336"/>
          </a:xfrm>
          <a:prstGeom prst="ellipse">
            <a:avLst/>
          </a:prstGeom>
          <a:solidFill>
            <a:srgbClr val="9A6B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8408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32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foothold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80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opened attachment, then weeks of quiet movement through the network.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2578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069080"/>
            <a:ext cx="402336" cy="402336"/>
          </a:xfrm>
          <a:prstGeom prst="ellipse">
            <a:avLst/>
          </a:prstGeom>
          <a:solidFill>
            <a:srgbClr val="1D6B5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4069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0325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480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charts, supplier lists, travel plans — fuel for a better attack next week.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trick at four different scales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874520"/>
            <a:ext cx="10817352" cy="932688"/>
          </a:xfrm>
          <a:prstGeom prst="roundRect">
            <a:avLst>
              <a:gd name="adj" fmla="val 5882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933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phishing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5000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message to millions. Crude, cheap, still profitable.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034272" y="2148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3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10817352" cy="932688"/>
          </a:xfrm>
          <a:prstGeom prst="roundRect">
            <a:avLst>
              <a:gd name="adj" fmla="val 5882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449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0156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you, using your title, your project, your manager's name.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34272" y="3200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3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977640"/>
            <a:ext cx="10817352" cy="932688"/>
          </a:xfrm>
          <a:prstGeom prst="roundRect">
            <a:avLst>
              <a:gd name="adj" fmla="val 5882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0965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45312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executives and approvers, where one yes is worth millions.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034272" y="4251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34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5029200"/>
            <a:ext cx="10817352" cy="932688"/>
          </a:xfrm>
          <a:prstGeom prst="roundRect">
            <a:avLst>
              <a:gd name="adj" fmla="val 5882"/>
            </a:avLst>
          </a:prstGeom>
          <a:solidFill>
            <a:srgbClr val="FAEAEB"/>
          </a:solidFill>
          <a:ln w="9525">
            <a:solidFill>
              <a:srgbClr val="B32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1480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email compromise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50468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link, no malware. Just a believable request about money.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34272" y="5303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spot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two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6974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phishing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apart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692640" y="2834640"/>
            <a:ext cx="1371600" cy="137160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9264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77824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clues in one message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wrong with this message?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a live credential-harvesting campaign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67665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41832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8288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 365 Security &lt;security@microsofft-verify.com&gt;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249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Reply-To: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494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helpdesk.ticket9921@mail.ru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To: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6700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undisclosed-recipients:;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41832" y="3090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0906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REQUIRED: Your mailbox will be deleted in 24 hours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1832" y="3584448"/>
            <a:ext cx="6263640" cy="0"/>
          </a:xfrm>
          <a:prstGeom prst="line">
            <a:avLst/>
          </a:prstGeom>
          <a:noFill/>
          <a:ln w="12700">
            <a:solidFill>
              <a:srgbClr val="C9D4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1832" y="3703320"/>
            <a:ext cx="6263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User,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records show that your mailbox has exceeded its storage quota. If you do not re-validate your password within 24 hours, all messages and files will be permanently deleted and account access will be revoked without further notice.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credentials here: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3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https://login.microsoftonline.com.account-verify.co/secure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The Microsoft 365 Security Team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1645920"/>
            <a:ext cx="3703320" cy="4206240"/>
          </a:xfrm>
          <a:prstGeom prst="roundRect">
            <a:avLst>
              <a:gd name="adj" fmla="val 1481"/>
            </a:avLst>
          </a:prstGeom>
          <a:solidFill>
            <a:srgbClr val="16202B"/>
          </a:solidFill>
          <a:ln w="9525">
            <a:solidFill>
              <a:srgbClr val="16202B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46720" y="1874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look at the answers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60604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really sent it?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a reply go?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addressed to you?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deadline for?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being threatened?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that web address?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Microsoft ever ask this?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clues, one message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16152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Misspelled sender domain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16152" y="1911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microsofft-verify.com. The display name is free text; the domain costs money.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16152" y="2743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Reply-To goes elsewhere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3054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 is routed to an inbox the attacker controls.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16152" y="3886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addressing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16152" y="4197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"undisclosed-recipients" means you were never the point.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5074920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16152" y="5029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countdown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5340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exist to stop you checking by another route.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645920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1600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threat of loss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1911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narrows attention to the escape route being offered.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2788920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2743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link's real owner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31152" y="3054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 the first single slash: account-verify.co, not Microsoft.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3931920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31152" y="38862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itself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931152" y="4197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provider ever asks you to confirm a password by email.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5029200"/>
            <a:ext cx="5074920" cy="914400"/>
          </a:xfrm>
          <a:prstGeom prst="roundRect">
            <a:avLst>
              <a:gd name="adj" fmla="val 6000"/>
            </a:avLst>
          </a:prstGeom>
          <a:solidFill>
            <a:srgbClr val="FAF1DC"/>
          </a:solidFill>
          <a:ln w="9525">
            <a:solidFill>
              <a:srgbClr val="9A6B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29400" y="5138928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6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teaching "look for bad spelling". Attackers now write fluent, on-brand copy in any language. Judge the request and the sender.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a web address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// then read forward to the first single slash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https://login.</a:t>
            </a:r>
            <a:pPr indent="0" marL="0">
              <a:buNone/>
            </a:pPr>
            <a:r>
              <a:rPr lang="en-US" sz="2100" b="1" dirty="0">
                <a:solidFill>
                  <a:srgbClr val="B3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account-verify.co</a:t>
            </a:r>
            <a:pPr indent="0" marL="0">
              <a:buNone/>
            </a:pPr>
            <a:r>
              <a:rPr lang="en-US" sz="21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/microsoft/secure?id=88123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700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of this site: account-verify.co.  "login" is a subdomain anyone can create, and "/microsoft/" is just a folder name.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65760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37764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Subdomain padding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paypal.com.secure-login.xyz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365760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37764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Typosquatting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rnicrosoft.com  ·  micros0ft.com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55864" y="365760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57032" y="377647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Lookalike characters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xn-- at the start of a domain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489204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5010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suffix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  ·  .cm  ·  .support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70832" y="489204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5010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Shorteners and QR codes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 hidden entirely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055864" y="489204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57032" y="5010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padlock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57032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proves encryption, not honesty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4630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reliable fake-site detector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already on your machine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29184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manager matches on the exact domain. It cannot be fooled by branding, a padlock, or a convincing layout — and it will silently refuse to fill a lookalike site you visit every day.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will not autofill, believe the tool, not the page.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46720" y="1737360"/>
            <a:ext cx="3456432" cy="3566160"/>
          </a:xfrm>
          <a:prstGeom prst="roundRect">
            <a:avLst>
              <a:gd name="adj" fmla="val 1587"/>
            </a:avLst>
          </a:prstGeom>
          <a:solidFill>
            <a:srgbClr val="1E2C3A"/>
          </a:solidFill>
          <a:ln w="9525">
            <a:solidFill>
              <a:srgbClr val="33465A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321040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tells, ranked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21040" y="2560320"/>
            <a:ext cx="365760" cy="365760"/>
          </a:xfrm>
          <a:prstGeom prst="ellipse">
            <a:avLst/>
          </a:prstGeom>
          <a:solidFill>
            <a:srgbClr val="1D6B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210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23960" y="25146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manager stays silent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3474720"/>
            <a:ext cx="365760" cy="365760"/>
          </a:xfrm>
          <a:prstGeom prst="ellipse">
            <a:avLst/>
          </a:prstGeom>
          <a:solidFill>
            <a:srgbClr val="9A6B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34290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does not match the brand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4389120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210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asks for an MFA code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levers, endlessly recombined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lever and the message loses most of its power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from the CFO's office."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70832" y="1737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9432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240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account locks in two hours."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55864" y="173736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84464" y="18745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240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policy violation was detected."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32918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657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salary bands — don't circulate."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70832" y="315468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9432" y="32918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657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expense claim was approved."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55864" y="315468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84464" y="32918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Familiarity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84464" y="36576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"Following up from the conference."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57200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4709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proof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074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"You're one of the last three."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70832" y="457200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599432" y="4709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Helpfulness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5074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badge isn't working, hands full."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55864" y="4572000"/>
            <a:ext cx="34290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84464" y="47091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4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284464" y="5074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read me the code and we're done."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only email any more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channels that bypass the inbox entirely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832" y="1874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24942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call from "IT" or "the bank". Voice cloning has made a familiar voice worthless as proof.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874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24942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 about parcels, tolls, tax refunds, or a manager's "new number".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32918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Quishing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366674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code that carries the link past mail filters and onto a personal phone.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32918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MFA fatigue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366674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push prompts at 2am until you approve one to make them stop.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1832" y="47091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phishing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508406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login page, then a request to let an app read your mail.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57200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47091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Callback phishing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5084064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for something you never bought, with their number to dispute it.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disguise ends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same three asks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85800" y="315468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1E2C3A"/>
          </a:solidFill>
          <a:ln w="9525">
            <a:solidFill>
              <a:srgbClr val="33465A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3364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money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3794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payment, a transfer, gift-card codes.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70832" y="315468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1E2C3A"/>
          </a:solidFill>
          <a:ln w="9525">
            <a:solidFill>
              <a:srgbClr val="33465A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45152" y="3364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Reveal a secret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45152" y="3794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password, a one-time code, an approval.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55864" y="315468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1E2C3A"/>
          </a:solidFill>
          <a:ln w="9525">
            <a:solidFill>
              <a:srgbClr val="33465A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30184" y="3364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this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30184" y="3794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attachment, a link, a QR code.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plus any one of these means verify on a second channel — whoever appears to have sent it.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five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78892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that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happened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organisations lacked security budget. Each was reached through a person doing their job.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that cost money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1081735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78408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RSA Security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78408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7830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titled as a recruitment plan landed in junk. An employee retrieved and opened it. The exploit inside gave attackers a foothold, and data relating to the SecurID two-factor product was taken.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874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retrieved junk message reached a company whose entire business was security.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1081735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78408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and Facebook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2015  ·  ~$100M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291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 registered a company using a genuine hardware supplier's name and sent both firms convincing invoices and contracts for equipment they really did buy. Finance paid for two years.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33832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malware and no links. Only paperwork that looked exactly right.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663440"/>
            <a:ext cx="1081735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78408" y="4800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Ubiquiti Networks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 ·  $46.7M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4800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impersonated executives and an outside law firm, requesting international transfers for a supposedly confidential deal. The money moved before anyone verified by another route.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48920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Secrecy plus seniority is a warning sign, not a reason to comply.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that cost operations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the losses look like side by side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8521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562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Twitter   ·   2020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5856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phoned employees posing as internal IT, walked them through a credential page, then posted a cryptocurrency scam from 130 verified accounts.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46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a phishing channel.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931920"/>
            <a:ext cx="58521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40965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MGM Resorts   ·   2023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49884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impersonated an employee to the IT help desk using details from public profiles and had access reset. Hotel systems and room keys were disrupted for days.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5486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Help-desk identity checks are a control, not a formality.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903720" y="1691640"/>
          <a:ext cx="4572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habits that survive a busy 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theory protects nobody. These behaviours 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2560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1956816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5256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42316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on a second channel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3035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back on a number you already had.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737360"/>
            <a:ext cx="2560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75888" y="1956816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7588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42316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follow a link to log in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035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address or use your own bookmark.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1737360"/>
            <a:ext cx="2560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956816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42316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password manager decide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035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refuses lookalike domains automatically.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97696" y="1737360"/>
            <a:ext cx="2560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17152" y="1956816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17152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242316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passkeys or a security key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3035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the real domain, so clones fail.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886200"/>
            <a:ext cx="2560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5256" y="4105656"/>
            <a:ext cx="365760" cy="365760"/>
          </a:xfrm>
          <a:prstGeom prst="ellipse">
            <a:avLst/>
          </a:prstGeom>
          <a:solidFill>
            <a:srgbClr val="1D6B5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5256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" y="45720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codes like passwords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05256" y="5184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legitimate ever needs your OTP.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56432" y="3886200"/>
            <a:ext cx="2560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75888" y="4105656"/>
            <a:ext cx="365760" cy="365760"/>
          </a:xfrm>
          <a:prstGeom prst="ellipse">
            <a:avLst/>
          </a:prstGeom>
          <a:solidFill>
            <a:srgbClr val="1D6B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75888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675888" y="45720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urgency slow you down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675888" y="5184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real collapses in ten minutes.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27064" y="3886200"/>
            <a:ext cx="2560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4105656"/>
            <a:ext cx="365760" cy="365760"/>
          </a:xfrm>
          <a:prstGeom prst="ellipse">
            <a:avLst/>
          </a:prstGeom>
          <a:solidFill>
            <a:srgbClr val="1D6B5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4652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45720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Report, do not just delete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5184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protects only you.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997696" y="3886200"/>
            <a:ext cx="2560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17152" y="4105656"/>
            <a:ext cx="365760" cy="365760"/>
          </a:xfrm>
          <a:prstGeom prst="ellipse">
            <a:avLst/>
          </a:prstGeom>
          <a:solidFill>
            <a:srgbClr val="1D6B5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17152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217152" y="457200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 and personal apart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217152" y="5184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forward work mail to personal accounts.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 for anyone who approves payments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10817352" cy="1508760"/>
          </a:xfrm>
          <a:prstGeom prst="roundRect">
            <a:avLst>
              <a:gd name="adj" fmla="val 3636"/>
            </a:avLst>
          </a:prstGeom>
          <a:solidFill>
            <a:srgbClr val="FAEAEB"/>
          </a:solidFill>
          <a:ln w="9525">
            <a:solidFill>
              <a:srgbClr val="B32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01168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3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change to supplier bank details is a verification event. Always. No exceptions for urgency or seniority.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3657600"/>
            <a:ext cx="25603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5256" y="3858768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the supplier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" y="47365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number from the signed contract, never one in the email.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3657600"/>
            <a:ext cx="25603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3858768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75888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aloud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47365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new account number back and have them confirm 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27064" y="3657600"/>
            <a:ext cx="25603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3858768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who confirmed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7365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date, and time, attached to the payment record.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97696" y="3657600"/>
            <a:ext cx="25603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17152" y="3858768"/>
            <a:ext cx="365760" cy="36576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17152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 a second approver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17152" y="47365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new or changed beneficiary, regardless of amount.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10817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clicked. The next thirty minutes matter.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06070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limits damage. Embarrassment multiplies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883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interacting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494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page. Enter nothing else, approve nothing else, reply to nothing.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15468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33009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it immediately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36667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security or the helpdesk now, even at 3am, even if you only suspect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57200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754880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47183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the password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50840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device you trust, and anywhere you reused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173736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920240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04888" y="1883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out everywhere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04888" y="224942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sessions. Check for new forwarding rules, app permissions, and recovery addresses.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15468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337560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04888" y="330098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over the device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04888" y="36667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opened a file, disconnect and let IT examine it rather than scanning and assuming.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4572000"/>
            <a:ext cx="5120640" cy="1234440"/>
          </a:xfrm>
          <a:prstGeom prst="roundRect">
            <a:avLst>
              <a:gd name="adj" fmla="val 4444"/>
            </a:avLst>
          </a:prstGeom>
          <a:solidFill>
            <a:srgbClr val="EEF2F6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4754880"/>
            <a:ext cx="365760" cy="365760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8368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104888" y="47183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the bank early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04888" y="50840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transfers can sometimes be recalled within hours. Rarely after that.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·  Question 1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email from your bank's exact, correctly spelled domain asks you to log in and confirm a transaction. What do you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6888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871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— the sender domain checks out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42900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472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bank's app or type the address yourself, then look for the alert there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38912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4074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ask whether the message is genuine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16636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34924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349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3675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a colleague and act on their opinion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·  Answer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email from your bank's exact, correctly spelled domain asks you to log in and confirm a transaction. What do you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04872"/>
            <a:ext cx="402336" cy="402336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231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link — the sender domain checks out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035808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E6F1ED"/>
          </a:solidFill>
          <a:ln w="9525">
            <a:solidFill>
              <a:srgbClr val="1D6B57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154680"/>
            <a:ext cx="402336" cy="402336"/>
          </a:xfrm>
          <a:prstGeom prst="ellipse">
            <a:avLst/>
          </a:prstGeom>
          <a:solidFill>
            <a:srgbClr val="1D6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7296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bank's app or type the address yourself, then look for the alert there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785616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904488"/>
            <a:ext cx="402336" cy="402336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2277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ask whether the message is genuine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535424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54296"/>
            <a:ext cx="402336" cy="402336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67258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a colleague and act on their opinion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376672"/>
            <a:ext cx="108173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54864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addresses can be spoofed, so a correct domain proves nothing. Reaching the site independently costs seconds and removes the risk completely.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·  Question 2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MFA push notifications arrive at 2am that you did not trigger. What is happening, and what do you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6888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871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one so they stop, and deal with it tomorrow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42900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472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them, change your password, and report it now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38912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4074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phone off and leave it until morning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16636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34924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349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3675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it only if the location shown looks like your city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·  Answer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MFA push notifications arrive at 2am that you did not trigger. What is happening, and what do you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04872"/>
            <a:ext cx="402336" cy="402336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231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one so they stop, and deal with it tomorrow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035808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E6F1ED"/>
          </a:solidFill>
          <a:ln w="9525">
            <a:solidFill>
              <a:srgbClr val="1D6B57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154680"/>
            <a:ext cx="402336" cy="402336"/>
          </a:xfrm>
          <a:prstGeom prst="ellipse">
            <a:avLst/>
          </a:prstGeom>
          <a:solidFill>
            <a:srgbClr val="1D6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7296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them, change your password, and report it now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785616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904488"/>
            <a:ext cx="402336" cy="402336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2277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phone off and leave it until morning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535424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54296"/>
            <a:ext cx="402336" cy="402336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67258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it only if the location shown looks like your city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376672"/>
            <a:ext cx="108173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54864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already has your password and is pushing you to approve. Denying, changing the password, and reporting is the entire response — and it cannot wait until morning.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·  Question 3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supplier emails to say their bank details have changed and this month's invoice must go to a new account. What happens first?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6888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468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871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it — the invoice number matches an order you recognise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342900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472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email to confirm the new details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38912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4074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supplier on a number from the signed contract and confirm aloud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166360"/>
            <a:ext cx="1081735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349240"/>
            <a:ext cx="438912" cy="438912"/>
          </a:xfrm>
          <a:prstGeom prst="ellipse">
            <a:avLst/>
          </a:prstGeom>
          <a:solidFill>
            <a:srgbClr val="23456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349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3675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colleague to approve it as a second pair of eyes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·  Answer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supplier emails to say their bank details have changed and this month's invoice must go to a new account. What happens first?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04872"/>
            <a:ext cx="402336" cy="402336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231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it — the invoice number matches an order you recognise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035808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54680"/>
            <a:ext cx="402336" cy="402336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17296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the email to confirm the new details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785616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E6F1ED"/>
          </a:solidFill>
          <a:ln w="9525">
            <a:solidFill>
              <a:srgbClr val="1D6B57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904488"/>
            <a:ext cx="402336" cy="402336"/>
          </a:xfrm>
          <a:prstGeom prst="ellipse">
            <a:avLst/>
          </a:prstGeom>
          <a:solidFill>
            <a:srgbClr val="1D6B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904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2277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supplier on a number from the signed contract and confirm aloud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535424"/>
            <a:ext cx="1081735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654296"/>
            <a:ext cx="402336" cy="402336"/>
          </a:xfrm>
          <a:prstGeom prst="ellipse">
            <a:avLst/>
          </a:prstGeom>
          <a:solidFill>
            <a:srgbClr val="5B6B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67258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colleague to approve it as a second pair of eyes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376672"/>
            <a:ext cx="1081735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C9D4DE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54864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Replying reaches whoever controls that mailbox — including an attacker sitting inside it. Verification only counts on a channel you chose yourself.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228832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234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three things with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2313432"/>
            <a:ext cx="457200" cy="45720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2402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down on urgency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6517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deadline in a message is a reason to check, not to hurry.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456432"/>
            <a:ext cx="457200" cy="45720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3832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log in from a link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7947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address or use your own bookmark. Every 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599432"/>
            <a:ext cx="457200" cy="457200"/>
          </a:xfrm>
          <a:prstGeom prst="ellipse">
            <a:avLst/>
          </a:prstGeom>
          <a:solidFill>
            <a:srgbClr val="B324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5262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it, even late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3776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 mistake is a good day's work. Silence is what causes breaches.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5623560"/>
            <a:ext cx="10817352" cy="777240"/>
          </a:xfrm>
          <a:prstGeom prst="roundRect">
            <a:avLst>
              <a:gd name="adj" fmla="val 7059"/>
            </a:avLst>
          </a:prstGeom>
          <a:solidFill>
            <a:srgbClr val="1E2C3A"/>
          </a:solidFill>
          <a:ln w="9525">
            <a:solidFill>
              <a:srgbClr val="33465A"/>
            </a:solidFill>
            <a:prstDash val="solid"/>
          </a:ln>
          <a:effectLst>
            <a:outerShdw sx="100000" sy="100000" kx="0" ky="0" algn="bl" rotWithShape="0" blurRad="177800" dist="38100" dir="5400000">
              <a:srgbClr val="16202B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58064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messages:  [ your Phish Alert button / security@yourcompany.com / helpdesk ext. 0000 ]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Security Awareness</dc:creator>
  <cp:lastModifiedBy>Security Awareness</cp:lastModifiedBy>
  <cp:revision>1</cp:revision>
  <dcterms:created xsi:type="dcterms:W3CDTF">2026-09-20T10:25:04Z</dcterms:created>
  <dcterms:modified xsi:type="dcterms:W3CDTF">2026-09-20T10:25:04Z</dcterms:modified>
</cp:coreProperties>
</file>